
<file path=[Content_Types].xml><?xml version="1.0" encoding="utf-8"?>
<Types xmlns="http://schemas.openxmlformats.org/package/2006/content-types">
  <Default Extension="png" ContentType="image/png"/>
  <Default Extension="webp" ContentType="image/webp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87" d="100"/>
          <a:sy n="87" d="100"/>
        </p:scale>
        <p:origin x="49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4231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6446520"/>
            <a:ext cx="11018520" cy="0"/>
          </a:xfrm>
          <a:prstGeom prst="line">
            <a:avLst/>
          </a:prstGeom>
          <a:noFill/>
          <a:ln w="12700">
            <a:solidFill>
              <a:srgbClr val="D5E3F8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52881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E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Campus Mini Mart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E7D9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E7D9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ebp"/><Relationship Id="rId3" Type="http://schemas.openxmlformats.org/officeDocument/2006/relationships/image" Target="../media/image1.png"/><Relationship Id="rId7" Type="http://schemas.openxmlformats.org/officeDocument/2006/relationships/image" Target="../media/image5.web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webp"/><Relationship Id="rId5" Type="http://schemas.openxmlformats.org/officeDocument/2006/relationships/image" Target="../media/image3.webp"/><Relationship Id="rId4" Type="http://schemas.openxmlformats.org/officeDocument/2006/relationships/image" Target="../media/image2.web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9.png"/><Relationship Id="rId7" Type="http://schemas.openxmlformats.org/officeDocument/2006/relationships/image" Target="../media/image6.web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webp"/><Relationship Id="rId5" Type="http://schemas.openxmlformats.org/officeDocument/2006/relationships/image" Target="../media/image2.webp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99753"/>
            <a:ext cx="12191695" cy="6858000"/>
          </a:xfrm>
          <a:prstGeom prst="rect">
            <a:avLst/>
          </a:prstGeom>
          <a:solidFill>
            <a:srgbClr val="0E2A5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EA1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15142" y="990876"/>
            <a:ext cx="6159731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 smtClean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Campus</a:t>
            </a:r>
            <a:r>
              <a:rPr lang="ar-AE" sz="4200" dirty="0"/>
              <a:t> </a:t>
            </a:r>
            <a:r>
              <a:rPr lang="en-US" sz="4200" b="1" dirty="0" smtClean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 </a:t>
            </a: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Mart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898222" y="1995425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6D8F5"/>
                </a:solidFill>
              </a:rPr>
              <a:t>Web-based mini market prototype for campus users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59536" y="2447268"/>
            <a:ext cx="3749040" cy="566928"/>
          </a:xfrm>
          <a:prstGeom prst="roundRect">
            <a:avLst>
              <a:gd name="adj" fmla="val 12903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98222" y="2636571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2A52"/>
                </a:solidFill>
              </a:rPr>
              <a:t>Yazan Hijazi • Yazan Zaghlol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E7D9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  <p:sp>
        <p:nvSpPr>
          <p:cNvPr id="14" name="Shape 4"/>
          <p:cNvSpPr/>
          <p:nvPr/>
        </p:nvSpPr>
        <p:spPr>
          <a:xfrm>
            <a:off x="6064135" y="1094143"/>
            <a:ext cx="1325880" cy="16002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CE7F7">
                <a:alpha val="80000"/>
              </a:srgbClr>
            </a:solidFill>
            <a:prstDash val="solid"/>
          </a:ln>
        </p:spPr>
      </p:sp>
      <p:sp>
        <p:nvSpPr>
          <p:cNvPr id="15" name="Shape 4"/>
          <p:cNvSpPr/>
          <p:nvPr/>
        </p:nvSpPr>
        <p:spPr>
          <a:xfrm>
            <a:off x="7983928" y="1061119"/>
            <a:ext cx="1325880" cy="16002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CE7F7">
                <a:alpha val="80000"/>
              </a:srgbClr>
            </a:solidFill>
            <a:prstDash val="solid"/>
          </a:ln>
        </p:spPr>
      </p:sp>
      <p:sp>
        <p:nvSpPr>
          <p:cNvPr id="16" name="Shape 4"/>
          <p:cNvSpPr/>
          <p:nvPr/>
        </p:nvSpPr>
        <p:spPr>
          <a:xfrm>
            <a:off x="9909219" y="1030964"/>
            <a:ext cx="1325880" cy="16002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CE7F7">
                <a:alpha val="80000"/>
              </a:srgbClr>
            </a:solidFill>
            <a:prstDash val="solid"/>
          </a:ln>
        </p:spPr>
      </p:sp>
      <p:sp>
        <p:nvSpPr>
          <p:cNvPr id="17" name="Shape 4"/>
          <p:cNvSpPr/>
          <p:nvPr/>
        </p:nvSpPr>
        <p:spPr>
          <a:xfrm>
            <a:off x="6064135" y="3345665"/>
            <a:ext cx="1325880" cy="16002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CE7F7">
                <a:alpha val="80000"/>
              </a:srgbClr>
            </a:solidFill>
            <a:prstDash val="solid"/>
          </a:ln>
        </p:spPr>
      </p:sp>
      <p:sp>
        <p:nvSpPr>
          <p:cNvPr id="18" name="Shape 4"/>
          <p:cNvSpPr/>
          <p:nvPr/>
        </p:nvSpPr>
        <p:spPr>
          <a:xfrm>
            <a:off x="7983928" y="3345665"/>
            <a:ext cx="1325880" cy="16002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CE7F7">
                <a:alpha val="80000"/>
              </a:srgbClr>
            </a:solidFill>
            <a:prstDash val="solid"/>
          </a:ln>
        </p:spPr>
      </p:sp>
      <p:sp>
        <p:nvSpPr>
          <p:cNvPr id="19" name="Shape 4"/>
          <p:cNvSpPr/>
          <p:nvPr/>
        </p:nvSpPr>
        <p:spPr>
          <a:xfrm>
            <a:off x="9909219" y="3329247"/>
            <a:ext cx="1325880" cy="16002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CE7F7">
                <a:alpha val="80000"/>
              </a:srgbClr>
            </a:solidFill>
            <a:prstDash val="solid"/>
          </a:ln>
        </p:spPr>
      </p:sp>
      <p:pic>
        <p:nvPicPr>
          <p:cNvPr id="20" name="Image 0" descr="/mnt/data/cmm_assets/images/products/chi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57" y="1156716"/>
            <a:ext cx="1008035" cy="1453896"/>
          </a:xfrm>
          <a:prstGeom prst="rect">
            <a:avLst/>
          </a:prstGeom>
        </p:spPr>
      </p:pic>
      <p:pic>
        <p:nvPicPr>
          <p:cNvPr id="21" name="Image 1" descr="/mnt/data/cmm_assets/images/products/soda.web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3099" y="1068637"/>
            <a:ext cx="1026147" cy="1524854"/>
          </a:xfrm>
          <a:prstGeom prst="rect">
            <a:avLst/>
          </a:prstGeom>
        </p:spPr>
      </p:pic>
      <p:pic>
        <p:nvPicPr>
          <p:cNvPr id="22" name="Image 2" descr="/mnt/data/cmm_assets/images/products/water_bottle.webp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0587" y="1094143"/>
            <a:ext cx="1123144" cy="1497525"/>
          </a:xfrm>
          <a:prstGeom prst="rect">
            <a:avLst/>
          </a:prstGeom>
        </p:spPr>
      </p:pic>
      <p:pic>
        <p:nvPicPr>
          <p:cNvPr id="23" name="Image 3" descr="/mnt/data/cmm_assets/images/products/pizza.webp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847" y="3661617"/>
            <a:ext cx="1294168" cy="968295"/>
          </a:xfrm>
          <a:prstGeom prst="rect">
            <a:avLst/>
          </a:prstGeom>
        </p:spPr>
      </p:pic>
      <p:pic>
        <p:nvPicPr>
          <p:cNvPr id="24" name="Image 4" descr="/mnt/data/cmm_assets/images/products/instant_noodles.webp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9016" y="3661617"/>
            <a:ext cx="1088136" cy="1088136"/>
          </a:xfrm>
          <a:prstGeom prst="rect">
            <a:avLst/>
          </a:prstGeom>
        </p:spPr>
      </p:pic>
      <p:pic>
        <p:nvPicPr>
          <p:cNvPr id="26" name="Image 5" descr="/mnt/data/cmm_assets/images/products/ice_cream.webp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76073" y="3661617"/>
            <a:ext cx="1259026" cy="10881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E63EA"/>
          </a:solidFill>
          <a:ln w="12700">
            <a:solidFill>
              <a:srgbClr val="1E63E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Idea &amp; Problem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1111833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033"/>
                </a:solidFill>
              </a:rPr>
              <a:t>Problem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1316736"/>
            <a:ext cx="5029200" cy="13350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00" dirty="0">
                <a:solidFill>
                  <a:srgbClr val="27364A"/>
                </a:solidFill>
              </a:rPr>
              <a:t>Students have short breaks and need quick access to campus products.</a:t>
            </a:r>
            <a:endParaRPr lang="en-US" sz="1300" dirty="0"/>
          </a:p>
          <a:p>
            <a:r>
              <a:rPr lang="en-US" sz="1300" dirty="0">
                <a:solidFill>
                  <a:srgbClr val="27364A"/>
                </a:solidFill>
              </a:rPr>
              <a:t>Traditional browsing inside small stores can waste time.</a:t>
            </a:r>
            <a:endParaRPr lang="en-US" sz="1300" dirty="0"/>
          </a:p>
          <a:p>
            <a:r>
              <a:rPr lang="en-US" sz="1300" dirty="0">
                <a:solidFill>
                  <a:srgbClr val="27364A"/>
                </a:solidFill>
              </a:rPr>
              <a:t>Users need search, filtering, cart control, and simple checkout feedback.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760720" y="1111833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033"/>
                </a:solidFill>
              </a:rPr>
              <a:t>Solution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760720" y="1431873"/>
            <a:ext cx="4983480" cy="9509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00" dirty="0">
                <a:solidFill>
                  <a:srgbClr val="27364A"/>
                </a:solidFill>
              </a:rPr>
              <a:t>Campus Mini Mart provides a fast product catalog for snacks, drinks, meals, and desserts.</a:t>
            </a:r>
            <a:endParaRPr lang="en-US" sz="1300" dirty="0"/>
          </a:p>
          <a:p>
            <a:r>
              <a:rPr lang="en-US" sz="1300" dirty="0">
                <a:solidFill>
                  <a:srgbClr val="27364A"/>
                </a:solidFill>
              </a:rPr>
              <a:t>The current version is a front-end MVP focused on the customer shopping flow.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77240" y="5532120"/>
            <a:ext cx="1325880" cy="301752"/>
          </a:xfrm>
          <a:prstGeom prst="roundRect">
            <a:avLst>
              <a:gd name="adj" fmla="val 24242"/>
            </a:avLst>
          </a:prstGeom>
          <a:solidFill>
            <a:srgbClr val="16A36A"/>
          </a:solidFill>
          <a:ln w="12700">
            <a:solidFill>
              <a:srgbClr val="16A36A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0392" y="5605272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Front-End MVP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240280" y="5532120"/>
            <a:ext cx="1508760" cy="301752"/>
          </a:xfrm>
          <a:prstGeom prst="roundRect">
            <a:avLst>
              <a:gd name="adj" fmla="val 24242"/>
            </a:avLst>
          </a:prstGeom>
          <a:solidFill>
            <a:srgbClr val="1E63EA"/>
          </a:solidFill>
          <a:ln w="12700">
            <a:solidFill>
              <a:srgbClr val="1E63EA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313432" y="5605272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HTML • CSS • JS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3886200" y="5532120"/>
            <a:ext cx="1234440" cy="301752"/>
          </a:xfrm>
          <a:prstGeom prst="roundRect">
            <a:avLst>
              <a:gd name="adj" fmla="val 24242"/>
            </a:avLst>
          </a:prstGeom>
          <a:solidFill>
            <a:srgbClr val="6C63FF"/>
          </a:solidFill>
          <a:ln w="12700">
            <a:solidFill>
              <a:srgbClr val="6C63FF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959352" y="5605272"/>
            <a:ext cx="1088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localStorage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E7D9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58155"/>
            <a:ext cx="4824961" cy="362102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2758155"/>
            <a:ext cx="4730519" cy="362102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E63EA"/>
          </a:solidFill>
          <a:ln w="12700">
            <a:solidFill>
              <a:srgbClr val="1E63E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Requirements &amp; Scope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110009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033"/>
                </a:solidFill>
              </a:rPr>
              <a:t>Core Functional Requirements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35508" y="886968"/>
            <a:ext cx="5257800" cy="2487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20" dirty="0">
                <a:solidFill>
                  <a:srgbClr val="27364A"/>
                </a:solidFill>
              </a:rPr>
              <a:t>Display available products with details and images.</a:t>
            </a:r>
            <a:endParaRPr lang="en-US" sz="1220" dirty="0"/>
          </a:p>
          <a:p>
            <a:r>
              <a:rPr lang="en-US" sz="1220" dirty="0">
                <a:solidFill>
                  <a:srgbClr val="27364A"/>
                </a:solidFill>
              </a:rPr>
              <a:t>Search products by product name.</a:t>
            </a:r>
            <a:endParaRPr lang="en-US" sz="1220" dirty="0"/>
          </a:p>
          <a:p>
            <a:r>
              <a:rPr lang="en-US" sz="1220" dirty="0">
                <a:solidFill>
                  <a:srgbClr val="27364A"/>
                </a:solidFill>
              </a:rPr>
              <a:t>Filter catalog by category.</a:t>
            </a:r>
            <a:endParaRPr lang="en-US" sz="1220" dirty="0"/>
          </a:p>
          <a:p>
            <a:r>
              <a:rPr lang="en-US" sz="1220" dirty="0">
                <a:solidFill>
                  <a:srgbClr val="27364A"/>
                </a:solidFill>
              </a:rPr>
              <a:t>Add items to cart and store cart data locally.</a:t>
            </a:r>
            <a:endParaRPr lang="en-US" sz="1220" dirty="0"/>
          </a:p>
          <a:p>
            <a:r>
              <a:rPr lang="en-US" sz="1220" dirty="0">
                <a:solidFill>
                  <a:srgbClr val="27364A"/>
                </a:solidFill>
              </a:rPr>
              <a:t>Update quantities, remove items, clear cart, and calculate totals.</a:t>
            </a:r>
            <a:endParaRPr lang="en-US" sz="1220" dirty="0"/>
          </a:p>
          <a:p>
            <a:r>
              <a:rPr lang="en-US" sz="1220" dirty="0">
                <a:solidFill>
                  <a:srgbClr val="27364A"/>
                </a:solidFill>
              </a:rPr>
              <a:t>Complete a simulated checkout process.</a:t>
            </a:r>
            <a:endParaRPr lang="en-US" sz="1220" dirty="0"/>
          </a:p>
        </p:txBody>
      </p:sp>
      <p:sp>
        <p:nvSpPr>
          <p:cNvPr id="11" name="Text 8"/>
          <p:cNvSpPr/>
          <p:nvPr/>
        </p:nvSpPr>
        <p:spPr>
          <a:xfrm>
            <a:off x="5503246" y="130987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63EA"/>
                </a:solidFill>
              </a:rPr>
              <a:t>12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5503246" y="180928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D86"/>
                </a:solidFill>
              </a:rPr>
              <a:t>Functional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B6D86"/>
                </a:solidFill>
              </a:rPr>
              <a:t>requirements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995161" y="131269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63EA"/>
                </a:solidFill>
              </a:rPr>
              <a:t>7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6995161" y="175160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D86"/>
                </a:solidFill>
              </a:rPr>
              <a:t>Non-functional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B6D86"/>
                </a:solidFill>
              </a:rPr>
              <a:t>requirements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8869681" y="131269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63EA"/>
                </a:solidFill>
              </a:rPr>
              <a:t>8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8869681" y="175160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D86"/>
                </a:solidFill>
              </a:rPr>
              <a:t>User stories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E7D9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2989385"/>
            <a:ext cx="4458439" cy="3361172"/>
          </a:xfrm>
          <a:prstGeom prst="rect">
            <a:avLst/>
          </a:prstGeom>
        </p:spPr>
      </p:pic>
      <p:sp>
        <p:nvSpPr>
          <p:cNvPr id="20" name="Shape 4"/>
          <p:cNvSpPr/>
          <p:nvPr/>
        </p:nvSpPr>
        <p:spPr>
          <a:xfrm>
            <a:off x="10737487" y="3459761"/>
            <a:ext cx="1325880" cy="16002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CE7F7">
                <a:alpha val="80000"/>
              </a:srgbClr>
            </a:solidFill>
            <a:prstDash val="solid"/>
          </a:ln>
        </p:spPr>
      </p:sp>
      <p:sp>
        <p:nvSpPr>
          <p:cNvPr id="21" name="Shape 4"/>
          <p:cNvSpPr/>
          <p:nvPr/>
        </p:nvSpPr>
        <p:spPr>
          <a:xfrm>
            <a:off x="10760146" y="1811351"/>
            <a:ext cx="1325880" cy="16002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CE7F7">
                <a:alpha val="80000"/>
              </a:srgbClr>
            </a:solidFill>
            <a:prstDash val="solid"/>
          </a:ln>
        </p:spPr>
      </p:sp>
      <p:sp>
        <p:nvSpPr>
          <p:cNvPr id="23" name="Shape 4"/>
          <p:cNvSpPr/>
          <p:nvPr/>
        </p:nvSpPr>
        <p:spPr>
          <a:xfrm>
            <a:off x="10735848" y="144434"/>
            <a:ext cx="1325880" cy="16002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CE7F7">
                <a:alpha val="80000"/>
              </a:srgbClr>
            </a:solidFill>
            <a:prstDash val="solid"/>
          </a:ln>
        </p:spPr>
      </p:sp>
      <p:sp>
        <p:nvSpPr>
          <p:cNvPr id="26" name="Shape 4"/>
          <p:cNvSpPr/>
          <p:nvPr/>
        </p:nvSpPr>
        <p:spPr>
          <a:xfrm>
            <a:off x="10735848" y="5122534"/>
            <a:ext cx="1325880" cy="16002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CE7F7">
                <a:alpha val="80000"/>
              </a:srgbClr>
            </a:solidFill>
            <a:prstDash val="solid"/>
          </a:ln>
        </p:spPr>
      </p:sp>
      <p:pic>
        <p:nvPicPr>
          <p:cNvPr id="27" name="Image 0" descr="/mnt/data/cmm_assets/images/products/chip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6409" y="3522334"/>
            <a:ext cx="1008035" cy="1453896"/>
          </a:xfrm>
          <a:prstGeom prst="rect">
            <a:avLst/>
          </a:prstGeom>
        </p:spPr>
      </p:pic>
      <p:pic>
        <p:nvPicPr>
          <p:cNvPr id="28" name="Image 1" descr="/mnt/data/cmm_assets/images/products/soda.webp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99317" y="1818869"/>
            <a:ext cx="1026147" cy="1524854"/>
          </a:xfrm>
          <a:prstGeom prst="rect">
            <a:avLst/>
          </a:prstGeom>
        </p:spPr>
      </p:pic>
      <p:pic>
        <p:nvPicPr>
          <p:cNvPr id="30" name="Image 3" descr="/mnt/data/cmm_assets/images/products/pizza.webp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67560" y="460386"/>
            <a:ext cx="1294168" cy="968295"/>
          </a:xfrm>
          <a:prstGeom prst="rect">
            <a:avLst/>
          </a:prstGeom>
        </p:spPr>
      </p:pic>
      <p:pic>
        <p:nvPicPr>
          <p:cNvPr id="32" name="Image 5" descr="/mnt/data/cmm_assets/images/products/ice_cream.webp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02702" y="5454904"/>
            <a:ext cx="1259026" cy="1088136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2518" y="2989385"/>
            <a:ext cx="4824961" cy="338979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E63EA"/>
          </a:solidFill>
          <a:ln w="12700">
            <a:solidFill>
              <a:srgbClr val="1E63E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&amp; Modeling Summary</a:t>
            </a:r>
            <a:endParaRPr lang="en-US" sz="2600" dirty="0"/>
          </a:p>
        </p:txBody>
      </p:sp>
      <p:sp>
        <p:nvSpPr>
          <p:cNvPr id="13" name="Text 7"/>
          <p:cNvSpPr/>
          <p:nvPr/>
        </p:nvSpPr>
        <p:spPr>
          <a:xfrm>
            <a:off x="896112" y="4965192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Consistent with MVP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E7D9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7684" y="411480"/>
            <a:ext cx="4825156" cy="306525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705" y="1209658"/>
            <a:ext cx="6462320" cy="170702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705" y="3200149"/>
            <a:ext cx="5004405" cy="306525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6800" y="3200150"/>
            <a:ext cx="3180109" cy="306525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E63EA"/>
          </a:solidFill>
          <a:ln w="12700">
            <a:solidFill>
              <a:srgbClr val="1E63E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Overview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E7D9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40080" y="763580"/>
            <a:ext cx="7651066" cy="2908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220" b="1" dirty="0"/>
          </a:p>
          <a:p>
            <a:r>
              <a:rPr lang="en-US" sz="1220" dirty="0"/>
              <a:t>The working prototype was implemented using front-end web technologies</a:t>
            </a:r>
            <a:r>
              <a:rPr lang="en-US" sz="1220" dirty="0" smtClean="0"/>
              <a:t>.</a:t>
            </a:r>
            <a:endParaRPr lang="ar-AE" sz="1220" dirty="0" smtClean="0"/>
          </a:p>
          <a:p>
            <a:endParaRPr lang="en-US" sz="122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20" b="1" dirty="0"/>
              <a:t>HTML</a:t>
            </a:r>
            <a:r>
              <a:rPr lang="en-US" sz="1220" dirty="0"/>
              <a:t> was used to build the structure of the web pages. </a:t>
            </a:r>
            <a:endParaRPr lang="ar-AE" sz="1220" dirty="0" smtClean="0"/>
          </a:p>
          <a:p>
            <a:endParaRPr lang="en-US" sz="122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20" b="1" dirty="0"/>
              <a:t>CSS</a:t>
            </a:r>
            <a:r>
              <a:rPr lang="en-US" sz="1220" dirty="0"/>
              <a:t> was used to design the layout, colors, cards, buttons, and responsive interface. </a:t>
            </a:r>
            <a:endParaRPr lang="ar-AE" sz="1220" dirty="0" smtClean="0"/>
          </a:p>
          <a:p>
            <a:endParaRPr lang="en-US" sz="122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20" b="1" dirty="0"/>
              <a:t>JavaScript</a:t>
            </a:r>
            <a:r>
              <a:rPr lang="en-US" sz="1220" dirty="0"/>
              <a:t> was used to implement search, filtering, cart management, quantity updates, total calculation, and checkout. </a:t>
            </a:r>
            <a:endParaRPr lang="ar-AE" sz="1220" dirty="0" smtClean="0"/>
          </a:p>
          <a:p>
            <a:endParaRPr lang="en-US" sz="122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20" b="1" dirty="0" err="1"/>
              <a:t>localStorage</a:t>
            </a:r>
            <a:r>
              <a:rPr lang="en-US" sz="1220" dirty="0"/>
              <a:t> was used to save cart data in the browser. </a:t>
            </a:r>
            <a:endParaRPr lang="ar-AE" sz="1220" dirty="0" smtClean="0"/>
          </a:p>
          <a:p>
            <a:endParaRPr lang="en-US" sz="1220" dirty="0"/>
          </a:p>
          <a:p>
            <a:r>
              <a:rPr lang="en-US" sz="1220" dirty="0"/>
              <a:t>The system includes a main store page and a shopping cart page. </a:t>
            </a:r>
            <a:endParaRPr lang="ar-AE" sz="1220" dirty="0" smtClean="0"/>
          </a:p>
          <a:p>
            <a:r>
              <a:rPr lang="en-US" sz="1220" dirty="0" smtClean="0"/>
              <a:t>The </a:t>
            </a:r>
            <a:r>
              <a:rPr lang="en-US" sz="1220" dirty="0"/>
              <a:t>user can browse products, add items to the cart, review the order, update quantities, and complete checkout.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" y="3672069"/>
            <a:ext cx="5836146" cy="283845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648" y="3672068"/>
            <a:ext cx="4923275" cy="283845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146" y="281326"/>
            <a:ext cx="3863914" cy="387299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E63EA"/>
          </a:solidFill>
          <a:ln w="12700">
            <a:solidFill>
              <a:srgbClr val="1E63E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Testing Summary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13232" y="1325880"/>
            <a:ext cx="10789920" cy="1234440"/>
          </a:xfrm>
          <a:prstGeom prst="roundRect">
            <a:avLst>
              <a:gd name="adj" fmla="val 5926"/>
            </a:avLst>
          </a:prstGeom>
          <a:solidFill>
            <a:srgbClr val="EAF2FF"/>
          </a:solidFill>
          <a:ln w="12700">
            <a:solidFill>
              <a:srgbClr val="D8E5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57276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63EA"/>
                </a:solidFill>
              </a:rPr>
              <a:t>15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51560" y="201168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D86"/>
                </a:solidFill>
              </a:rPr>
              <a:t>test cases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154680" y="15727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63EA"/>
                </a:solidFill>
              </a:rPr>
              <a:t>11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154680" y="20116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D86"/>
                </a:solidFill>
              </a:rPr>
              <a:t>functional requirements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B6D86"/>
                </a:solidFill>
              </a:rPr>
              <a:t>covered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532120" y="157276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63EA"/>
                </a:solidFill>
              </a:rPr>
              <a:t>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532120" y="201168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D86"/>
                </a:solidFill>
              </a:rPr>
              <a:t>test types: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B6D86"/>
                </a:solidFill>
              </a:rPr>
              <a:t>normal / edge / negative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458200" y="157276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63EA"/>
                </a:solidFill>
              </a:rPr>
              <a:t>1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458200" y="201168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D86"/>
                </a:solidFill>
              </a:rPr>
              <a:t>traceability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B6D86"/>
                </a:solidFill>
              </a:rPr>
              <a:t>matrix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2960" y="2788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033"/>
                </a:solidFill>
              </a:rPr>
              <a:t>Main tested features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22960" y="3337560"/>
            <a:ext cx="1234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5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438144"/>
            <a:ext cx="105156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7364A"/>
                </a:solidFill>
              </a:rPr>
              <a:t>Product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7364A"/>
                </a:solidFill>
              </a:rPr>
              <a:t>display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0" y="3331230"/>
            <a:ext cx="1371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5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34640" y="3431814"/>
            <a:ext cx="118872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7364A"/>
                </a:solidFill>
              </a:rPr>
              <a:t>Search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7364A"/>
                </a:solidFill>
              </a:rPr>
              <a:t>filter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3337560"/>
            <a:ext cx="1371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5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3438144"/>
            <a:ext cx="118872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7364A"/>
                </a:solidFill>
              </a:rPr>
              <a:t>Cart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7364A"/>
                </a:solidFill>
              </a:rPr>
              <a:t>updates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58000" y="3331230"/>
            <a:ext cx="1371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5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0" y="3431814"/>
            <a:ext cx="118872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7364A"/>
                </a:solidFill>
              </a:rPr>
              <a:t>Total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7364A"/>
                </a:solidFill>
              </a:rPr>
              <a:t>calculation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915400" y="3331230"/>
            <a:ext cx="13258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5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06840" y="3431814"/>
            <a:ext cx="114300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7364A"/>
                </a:solidFill>
              </a:rPr>
              <a:t>Checkout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7364A"/>
                </a:solidFill>
              </a:rPr>
              <a:t>simulation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" y="446227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033"/>
                </a:solidFill>
              </a:rPr>
              <a:t>Coverage note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" y="4443632"/>
            <a:ext cx="10058400" cy="13350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180" dirty="0">
                <a:solidFill>
                  <a:srgbClr val="27364A"/>
                </a:solidFill>
              </a:rPr>
              <a:t>FR-1 to FR-11 are covered by related test cases in the traceability matrix.</a:t>
            </a:r>
            <a:endParaRPr lang="en-US" sz="1180" dirty="0"/>
          </a:p>
          <a:p>
            <a:r>
              <a:rPr lang="en-US" sz="1180" dirty="0">
                <a:solidFill>
                  <a:srgbClr val="27364A"/>
                </a:solidFill>
              </a:rPr>
              <a:t>FR-12 is marked as future scope because administrator features are not implemented in the current MVP.</a:t>
            </a:r>
            <a:endParaRPr lang="en-US" sz="1180" dirty="0"/>
          </a:p>
          <a:p>
            <a:r>
              <a:rPr lang="en-US" sz="1180" dirty="0">
                <a:solidFill>
                  <a:srgbClr val="27364A"/>
                </a:solidFill>
              </a:rPr>
              <a:t>The testing approach uses black-box testing with basic JavaScript review.</a:t>
            </a:r>
            <a:endParaRPr lang="en-US" sz="118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E7D9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E63EA"/>
          </a:solidFill>
          <a:ln w="12700">
            <a:solidFill>
              <a:srgbClr val="1E63E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 &amp; Lessons Learned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13533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033"/>
                </a:solidFill>
              </a:rPr>
              <a:t>Top project risks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1856232"/>
            <a:ext cx="489204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70" dirty="0">
                <a:solidFill>
                  <a:srgbClr val="27364A"/>
                </a:solidFill>
              </a:rPr>
              <a:t>Late requirement changes could affect consistency.</a:t>
            </a:r>
            <a:endParaRPr lang="en-US" sz="1270" dirty="0"/>
          </a:p>
          <a:p>
            <a:r>
              <a:rPr lang="en-US" sz="1270" dirty="0">
                <a:solidFill>
                  <a:srgbClr val="27364A"/>
                </a:solidFill>
              </a:rPr>
              <a:t>Cart data may not persist correctly between pages.</a:t>
            </a:r>
            <a:endParaRPr lang="en-US" sz="1270" dirty="0"/>
          </a:p>
          <a:p>
            <a:r>
              <a:rPr lang="en-US" sz="1270" dirty="0">
                <a:solidFill>
                  <a:srgbClr val="27364A"/>
                </a:solidFill>
              </a:rPr>
              <a:t>Broken image paths may affect product display.</a:t>
            </a:r>
            <a:endParaRPr lang="en-US" sz="1270" dirty="0"/>
          </a:p>
          <a:p>
            <a:r>
              <a:rPr lang="en-US" sz="1270" dirty="0">
                <a:solidFill>
                  <a:srgbClr val="27364A"/>
                </a:solidFill>
              </a:rPr>
              <a:t>Total price calculations must stay accurate after quantity changes.</a:t>
            </a:r>
            <a:endParaRPr lang="en-US" sz="1270" dirty="0"/>
          </a:p>
          <a:p>
            <a:r>
              <a:rPr lang="en-US" sz="1270" dirty="0">
                <a:solidFill>
                  <a:srgbClr val="27364A"/>
                </a:solidFill>
              </a:rPr>
              <a:t>Final ZIP may contain missing or unnecessary files.</a:t>
            </a:r>
            <a:endParaRPr lang="en-US" sz="1270" dirty="0"/>
          </a:p>
        </p:txBody>
      </p:sp>
      <p:sp>
        <p:nvSpPr>
          <p:cNvPr id="7" name="Text 5"/>
          <p:cNvSpPr/>
          <p:nvPr/>
        </p:nvSpPr>
        <p:spPr>
          <a:xfrm>
            <a:off x="6400800" y="13533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033"/>
                </a:solidFill>
              </a:rPr>
              <a:t>Lessons learned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92240" y="1856232"/>
            <a:ext cx="4572000" cy="17190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70" dirty="0">
                <a:solidFill>
                  <a:srgbClr val="27364A"/>
                </a:solidFill>
              </a:rPr>
              <a:t>Keep report, UML diagrams, test cases, and prototype aligned.</a:t>
            </a:r>
            <a:endParaRPr lang="en-US" sz="1270" dirty="0"/>
          </a:p>
          <a:p>
            <a:r>
              <a:rPr lang="en-US" sz="1270" dirty="0">
                <a:solidFill>
                  <a:srgbClr val="27364A"/>
                </a:solidFill>
              </a:rPr>
              <a:t>Test from a clean extracted folder before submission.</a:t>
            </a:r>
            <a:endParaRPr lang="en-US" sz="1270" dirty="0"/>
          </a:p>
          <a:p>
            <a:r>
              <a:rPr lang="en-US" sz="1270" dirty="0">
                <a:solidFill>
                  <a:srgbClr val="27364A"/>
                </a:solidFill>
              </a:rPr>
              <a:t>Use localStorage carefully for front-end state persistence.</a:t>
            </a:r>
            <a:endParaRPr lang="en-US" sz="1270" dirty="0"/>
          </a:p>
          <a:p>
            <a:r>
              <a:rPr lang="en-US" sz="1270" dirty="0">
                <a:solidFill>
                  <a:srgbClr val="27364A"/>
                </a:solidFill>
              </a:rPr>
              <a:t>Clearly separate implemented MVP features from future scope.</a:t>
            </a:r>
            <a:endParaRPr lang="en-US" sz="1270" dirty="0"/>
          </a:p>
        </p:txBody>
      </p:sp>
      <p:sp>
        <p:nvSpPr>
          <p:cNvPr id="9" name="Shape 7"/>
          <p:cNvSpPr/>
          <p:nvPr/>
        </p:nvSpPr>
        <p:spPr>
          <a:xfrm>
            <a:off x="2011680" y="5349240"/>
            <a:ext cx="8138160" cy="658368"/>
          </a:xfrm>
          <a:prstGeom prst="roundRect">
            <a:avLst>
              <a:gd name="adj" fmla="val 11111"/>
            </a:avLst>
          </a:prstGeom>
          <a:solidFill>
            <a:srgbClr val="1E63EA"/>
          </a:solidFill>
          <a:ln w="12700">
            <a:solidFill>
              <a:srgbClr val="1E63E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40280" y="555955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FFFFFF"/>
                </a:solidFill>
              </a:rPr>
              <a:t>Main takeaway: consistency between requirements, models, testing, and code is the most important quality factor.</a:t>
            </a:r>
            <a:endParaRPr lang="en-US" sz="12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E7D9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E63EA"/>
          </a:solidFill>
          <a:ln w="12700">
            <a:solidFill>
              <a:srgbClr val="1E63E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821" y="187537"/>
            <a:ext cx="5117639" cy="411480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 Display" pitchFamily="34" charset="0"/>
                <a:ea typeface="Aptos Display" pitchFamily="34" charset="-122"/>
              </a:rPr>
              <a:t>R</a:t>
            </a:r>
            <a:r>
              <a:rPr lang="en-US" sz="2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 Display" pitchFamily="34" charset="0"/>
                <a:ea typeface="Aptos Display" pitchFamily="34" charset="-122"/>
              </a:rPr>
              <a:t>esults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6702552" y="5650992"/>
            <a:ext cx="2002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Ready for final package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E7D9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22" y="685995"/>
            <a:ext cx="5117639" cy="2767736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22" y="3586361"/>
            <a:ext cx="5117639" cy="2676235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3309" y="4955024"/>
            <a:ext cx="6729531" cy="1538239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7028" y="3298353"/>
            <a:ext cx="6696120" cy="1555567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7028" y="187537"/>
            <a:ext cx="6696120" cy="29924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488</Words>
  <Application>Microsoft Office PowerPoint</Application>
  <PresentationFormat>Widescreen</PresentationFormat>
  <Paragraphs>104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Software Engineering Course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 Mini Mart</dc:title>
  <dc:subject>Campus Mini Mart Final Presentation</dc:subject>
  <dc:creator>OpenAI</dc:creator>
  <cp:lastModifiedBy>YAZAN HIJAZI</cp:lastModifiedBy>
  <cp:revision>8</cp:revision>
  <dcterms:created xsi:type="dcterms:W3CDTF">2026-05-14T08:36:58Z</dcterms:created>
  <dcterms:modified xsi:type="dcterms:W3CDTF">2026-05-14T16:08:33Z</dcterms:modified>
</cp:coreProperties>
</file>